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6f21e43e1745a7" /><Relationship Type="http://schemas.openxmlformats.org/officeDocument/2006/relationships/extended-properties" Target="/docProps/app.xml" Id="Rc92a1bdc8fdf440e" /><Relationship Type="http://schemas.openxmlformats.org/officeDocument/2006/relationships/officeDocument" Target="/ppt/presentation.xml" Id="R518f867834cf40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de8d434134c60"/>
  </p:sldMasterIdLst>
  <p:notesMasterIdLst>
    <p:notesMasterId xmlns:r="http://schemas.openxmlformats.org/officeDocument/2006/relationships" r:id="Rd1e79e4358f04102"/>
  </p:notesMasterIdLst>
  <p:sldIdLst>
    <p:sldId xmlns:r="http://schemas.openxmlformats.org/officeDocument/2006/relationships" id="256" r:id="R5f0a2ddfecd3434e"/>
    <p:sldId xmlns:r="http://schemas.openxmlformats.org/officeDocument/2006/relationships" id="257" r:id="Rf867cd6b97ea462b"/>
    <p:sldId xmlns:r="http://schemas.openxmlformats.org/officeDocument/2006/relationships" id="258" r:id="Rf1befb5694c8480d"/>
    <p:sldId xmlns:r="http://schemas.openxmlformats.org/officeDocument/2006/relationships" id="259" r:id="R9b1f446a6bc44439"/>
    <p:sldId xmlns:r="http://schemas.openxmlformats.org/officeDocument/2006/relationships" id="260" r:id="Rc58980cf21754846"/>
    <p:sldId xmlns:r="http://schemas.openxmlformats.org/officeDocument/2006/relationships" id="261" r:id="Raa218d4d4cfb4172"/>
    <p:sldId xmlns:r="http://schemas.openxmlformats.org/officeDocument/2006/relationships" id="262" r:id="R01820cdd0f5d4e96"/>
    <p:sldId xmlns:r="http://schemas.openxmlformats.org/officeDocument/2006/relationships" id="263" r:id="R36e7927b465d464c"/>
    <p:sldId xmlns:r="http://schemas.openxmlformats.org/officeDocument/2006/relationships" id="264" r:id="R4afbab12ad6b4f37"/>
    <p:sldId xmlns:r="http://schemas.openxmlformats.org/officeDocument/2006/relationships" id="265" r:id="Rf6b234b05f4a48bd"/>
    <p:sldId xmlns:r="http://schemas.openxmlformats.org/officeDocument/2006/relationships" id="266" r:id="R9aea61563a4c4887"/>
    <p:sldId xmlns:r="http://schemas.openxmlformats.org/officeDocument/2006/relationships" id="267" r:id="R641483edeb9f45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1c7955e914b1b" /><Relationship Type="http://schemas.openxmlformats.org/officeDocument/2006/relationships/slideMaster" Target="/ppt/slideMasters/slideMaster1.xml" Id="Rb70de8d434134c60" /><Relationship Type="http://schemas.openxmlformats.org/officeDocument/2006/relationships/notesMaster" Target="/ppt/notesMasters/notesMaster1.xml" Id="Rd1e79e4358f04102" /><Relationship Type="http://schemas.openxmlformats.org/officeDocument/2006/relationships/presProps" Target="/ppt/presProps.xml" Id="R38beb2d6baac44b9" /><Relationship Type="http://schemas.openxmlformats.org/officeDocument/2006/relationships/tableStyles" Target="/ppt/tableStyles.xml" Id="Rdb4bb9d7933e4688" /><Relationship Type="http://schemas.openxmlformats.org/officeDocument/2006/relationships/slide" Target="/ppt/slides/slide1.xml" Id="R5f0a2ddfecd3434e" /><Relationship Type="http://schemas.openxmlformats.org/officeDocument/2006/relationships/slide" Target="/ppt/slides/slide2.xml" Id="Rf867cd6b97ea462b" /><Relationship Type="http://schemas.openxmlformats.org/officeDocument/2006/relationships/slide" Target="/ppt/slides/slide3.xml" Id="Rf1befb5694c8480d" /><Relationship Type="http://schemas.openxmlformats.org/officeDocument/2006/relationships/slide" Target="/ppt/slides/slide4.xml" Id="R9b1f446a6bc44439" /><Relationship Type="http://schemas.openxmlformats.org/officeDocument/2006/relationships/slide" Target="/ppt/slides/slide5.xml" Id="Rc58980cf21754846" /><Relationship Type="http://schemas.openxmlformats.org/officeDocument/2006/relationships/slide" Target="/ppt/slides/slide6.xml" Id="Raa218d4d4cfb4172" /><Relationship Type="http://schemas.openxmlformats.org/officeDocument/2006/relationships/slide" Target="/ppt/slides/slide7.xml" Id="R01820cdd0f5d4e96" /><Relationship Type="http://schemas.openxmlformats.org/officeDocument/2006/relationships/slide" Target="/ppt/slides/slide8.xml" Id="R36e7927b465d464c" /><Relationship Type="http://schemas.openxmlformats.org/officeDocument/2006/relationships/slide" Target="/ppt/slides/slide9.xml" Id="R4afbab12ad6b4f37" /><Relationship Type="http://schemas.openxmlformats.org/officeDocument/2006/relationships/slide" Target="/ppt/slides/slide10.xml" Id="Rf6b234b05f4a48bd" /><Relationship Type="http://schemas.openxmlformats.org/officeDocument/2006/relationships/slide" Target="/ppt/slides/slide11.xml" Id="R9aea61563a4c4887" /><Relationship Type="http://schemas.openxmlformats.org/officeDocument/2006/relationships/slide" Target="/ppt/slides/slide12.xml" Id="R641483edeb9f45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983ac5690547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4f92128994978" /><Relationship Type="http://schemas.openxmlformats.org/officeDocument/2006/relationships/notesMaster" Target="/ppt/notesMasters/notesMaster1.xml" Id="Rb73f2696c2fb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893e5c70a24f1a" /><Relationship Type="http://schemas.openxmlformats.org/officeDocument/2006/relationships/notesMaster" Target="/ppt/notesMasters/notesMaster1.xml" Id="Rf86ca2da79cb4f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61213a8ed4f79" /><Relationship Type="http://schemas.openxmlformats.org/officeDocument/2006/relationships/notesMaster" Target="/ppt/notesMasters/notesMaster1.xml" Id="R2bfffdfb6eb943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0a002e1c854f9e" /><Relationship Type="http://schemas.openxmlformats.org/officeDocument/2006/relationships/notesMaster" Target="/ppt/notesMasters/notesMaster1.xml" Id="R7f98a138a81043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094841538e401c" /><Relationship Type="http://schemas.openxmlformats.org/officeDocument/2006/relationships/notesMaster" Target="/ppt/notesMasters/notesMaster1.xml" Id="Ra22bb02402b041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cd42e3392a4b7f" /><Relationship Type="http://schemas.openxmlformats.org/officeDocument/2006/relationships/notesMaster" Target="/ppt/notesMasters/notesMaster1.xml" Id="Rd3f6b290f428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ec4e9850de4380" /><Relationship Type="http://schemas.openxmlformats.org/officeDocument/2006/relationships/notesMaster" Target="/ppt/notesMasters/notesMaster1.xml" Id="R7f114ecd41f1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9812dcfc6149bf" /><Relationship Type="http://schemas.openxmlformats.org/officeDocument/2006/relationships/notesMaster" Target="/ppt/notesMasters/notesMaster1.xml" Id="Rbdae9596c6c247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0b01b62d6a4b01" /><Relationship Type="http://schemas.openxmlformats.org/officeDocument/2006/relationships/notesMaster" Target="/ppt/notesMasters/notesMaster1.xml" Id="R087ac305ce014b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07249584814cbe" /><Relationship Type="http://schemas.openxmlformats.org/officeDocument/2006/relationships/notesMaster" Target="/ppt/notesMasters/notesMaster1.xml" Id="Re4ae9b7d23144b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eee2a4107f437f" /><Relationship Type="http://schemas.openxmlformats.org/officeDocument/2006/relationships/notesMaster" Target="/ppt/notesMasters/notesMaster1.xml" Id="R99ae8434183a49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85ea27d9bd41af" /><Relationship Type="http://schemas.openxmlformats.org/officeDocument/2006/relationships/notesMaster" Target="/ppt/notesMasters/notesMaster1.xml" Id="Rb348cb3420b7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Advertising, Social Media &amp; PLV Package / internally produced campaign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LSS Marketing &amp; Advertising Master Plan / supplied LSS architectural documentation.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e37b63511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591dc643944d1f" /><Relationship Type="http://schemas.openxmlformats.org/officeDocument/2006/relationships/slideLayout" Target="/ppt/slideLayouts/slideLayout1.xml" Id="R1373a388a564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73a388a564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186397e8b414a" /><Relationship Type="http://schemas.openxmlformats.org/officeDocument/2006/relationships/notesSlide" Target="/ppt/notesSlides/notesSlide1.xml" Id="Rb8fd4e8be41c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6f7d511c4ec7" /><Relationship Type="http://schemas.openxmlformats.org/officeDocument/2006/relationships/notesSlide" Target="/ppt/notesSlides/notesSlide2.xml" Id="Re65f510d8359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cc549a67849bd" /><Relationship Type="http://schemas.openxmlformats.org/officeDocument/2006/relationships/notesSlide" Target="/ppt/notesSlides/notesSlide3.xml" Id="R762e2dcf6fe8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d5d41977f42ee" /><Relationship Type="http://schemas.openxmlformats.org/officeDocument/2006/relationships/notesSlide" Target="/ppt/notesSlides/notesSlide4.xml" Id="R60ce2f7e22934a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e56ec7f554ca5" /><Relationship Type="http://schemas.openxmlformats.org/officeDocument/2006/relationships/notesSlide" Target="/ppt/notesSlides/notesSlide5.xml" Id="R9160625368d746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345f881684cb4" /><Relationship Type="http://schemas.openxmlformats.org/officeDocument/2006/relationships/notesSlide" Target="/ppt/notesSlides/notesSlide6.xml" Id="Rcdfe243f45bf40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253743f46452d" /><Relationship Type="http://schemas.openxmlformats.org/officeDocument/2006/relationships/image" Target="/ppt/media/image.png" Id="R6a39de654a8a4bc2" /><Relationship Type="http://schemas.openxmlformats.org/officeDocument/2006/relationships/image" Target="/ppt/media/image2.png" Id="R83988e9156d74660" /><Relationship Type="http://schemas.openxmlformats.org/officeDocument/2006/relationships/image" Target="/ppt/media/image3.png" Id="R5ca04803af1a41c3" /><Relationship Type="http://schemas.openxmlformats.org/officeDocument/2006/relationships/notesSlide" Target="/ppt/notesSlides/notesSlide7.xml" Id="R53b17df8ae754e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5d0b550d6430f" /><Relationship Type="http://schemas.openxmlformats.org/officeDocument/2006/relationships/notesSlide" Target="/ppt/notesSlides/notesSlide8.xml" Id="R9aad28afa95b43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541d64a614144" /><Relationship Type="http://schemas.openxmlformats.org/officeDocument/2006/relationships/notesSlide" Target="/ppt/notesSlides/notesSlide9.xml" Id="Rdad75e6f1c45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4b15ead0648f7" /><Relationship Type="http://schemas.openxmlformats.org/officeDocument/2006/relationships/notesSlide" Target="/ppt/notesSlides/notesSlide10.xml" Id="R7e8b7ed03b1b4e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c1d950e914c61" /><Relationship Type="http://schemas.openxmlformats.org/officeDocument/2006/relationships/notesSlide" Target="/ppt/notesSlides/notesSlide11.xml" Id="Rf95298eeb75243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43c91213c4e8d" /><Relationship Type="http://schemas.openxmlformats.org/officeDocument/2006/relationships/notesSlide" Target="/ppt/notesSlides/notesSlide12.xml" Id="Rd01cf726014f44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26AE2-0D72-411B-ACDA-58DFCCD0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FFA52-C207-4377-A116-1F315FD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LSS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A367A-D63B-4EB5-9F7B-987A1FF4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EE3E8"/>
                </a:solidFill>
              </a:defRPr>
            </a:pPr>
            <a:r>
              <a:rPr sz="2550" b="0">
                <a:solidFill>
                  <a:srgbClr val="BEE3E8"/>
                </a:solidFill>
              </a:rPr>
              <a:t>Life Sciences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A1DEC-C5D0-420F-AD44-7C4406A1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Connect Operations.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Control Quality.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Trace Everything.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A9B86-71F6-442B-AA6A-1623921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EC"/>
                </a:solidFill>
              </a:defRPr>
            </a:pPr>
            <a:r>
              <a:rPr sz="1500" b="0">
                <a:solidFill>
                  <a:srgbClr val="D9E2EC"/>
                </a:solidFill>
              </a:rPr>
              <a:t>Commercial launch narrative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D3192-1D57-472E-8A74-B96E1F7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0BEC5"/>
                </a:solidFill>
              </a:defRPr>
            </a:pPr>
            <a:r>
              <a:rPr sz="1350" b="1">
                <a:solidFill>
                  <a:srgbClr val="B0BEC5"/>
                </a:solidFill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3DFD0-3FF5-4E44-9207-619D0377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47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40194-0C66-452D-9A45-7826C89C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3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4FB73-6187-4485-AD28-921A2C1D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531F3-8DB7-4FAD-A972-F1FE68E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24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60EF6-5084-4769-8CCA-6991FCC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362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AE6F7-9781-45CE-85FD-CA2DF42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66120-8526-4BAF-A444-77479D9C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144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9525">
            <a:solidFill>
              <a:srgbClr val="48658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3890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6EA08-9BAA-433A-A180-30B364D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6F9E8-68B0-4928-B755-579CF32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The batch story is often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E475F-0FD1-4AFF-A6EC-AA68344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When operations and quality live apart, each investigation begins with reconstruction.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8500B-144B-474C-B35F-6B17E59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809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7E334-A6D8-41DC-8139-580F37A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D4A9B-E11B-49FE-AC64-6826CB5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53735-027A-475D-81F2-D46BBFA3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DFBAE-AB28-49BA-8197-B89A0D3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BBC6E-1904-43E3-91AB-B32B39A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QMS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A5D4D-A3CA-48F0-9144-D2FED94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18FC1-8D60-44D5-B3D2-BDF74FD1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1AAF4-234D-47BE-AEFA-3AD103FD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1809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979F-960A-4C6C-8858-824910A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19AC9-EE63-42D2-B08B-E31D01E0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Approvals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7AFB6-9B73-40A4-94A8-F20108C4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01208-B5D8-49B0-8D6B-E9B1D1D4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809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D35B1-5ED0-492B-87D1-717B1D6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Manual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23373-650D-42AD-B11E-A651848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Exceptions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2304C-A7F5-4D32-9A43-A30DA06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2087E-C2C0-40D4-AB4E-7A9D3B99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question is not “Do we have data?”</a:t>
            </a:r>
          </a:p>
          <a:p xmlns:a="http://schemas.openxmlformats.org/drawingml/2006/main"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It is “Can we follow the decision?”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DBFB4-2610-4B6E-9E4F-CDEA73CE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14462-99D3-4B40-9FAE-06AFD581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776789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A6525-8EA3-4AA9-90AA-39345EA7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3E8"/>
                </a:solidFill>
              </a:defRPr>
            </a:pPr>
            <a:r>
              <a:rPr sz="1050" b="1">
                <a:solidFill>
                  <a:srgbClr val="BEE3E8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09054-ADF4-42E0-A33B-D4DAFC3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connected environment changes the conversation.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4CEEF-EE62-4BB7-8837-48816A8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</a:defRPr>
            </a:pPr>
            <a:r>
              <a:rPr sz="1650" b="0">
                <a:solidFill>
                  <a:srgbClr val="D9E2EC"/>
                </a:solidFill>
              </a:rPr>
              <a:t>LSS is designed to link operational context and quality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37F95-4F24-4353-9354-35E0DE1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B2FD-CB34-4F9A-A7B2-C6906647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0"/>
            <a:ext cx="16002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8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5FC75-2271-4916-9493-92CE1D1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8A705-0138-4288-8336-C18F8DB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2279-110C-4CCE-AAEB-2A6A143A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36521-882C-47F0-9080-376135F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6002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8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28E01-9BE7-41E5-B37B-47AED6E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71FB0-D5EA-45E8-BDAA-35A4B786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361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56A96-CC03-46A8-9A6B-F1CAB4E5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19500"/>
            <a:ext cx="16002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8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F90FB-5AAD-43D0-A913-2B90DBD7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671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13619-9626-402A-BAB9-B4B160E7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68A6F-54D7-4859-AE9A-3511D097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3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A698C-10B8-47FB-A306-C0EE01F4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62500"/>
            <a:ext cx="16002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B58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ACE50-1E89-42B3-937E-A80072F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CONTROLLED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561B2-FD45-40D3-85AC-94B1F49C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290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099F5-5E1C-4BB8-B5E9-7EFB39C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0BEC5"/>
                </a:solidFill>
              </a:defRPr>
            </a:pPr>
            <a:r>
              <a:rPr sz="900" b="1">
                <a:solidFill>
                  <a:srgbClr val="B0BEC5"/>
                </a:solidFill>
              </a:rPr>
              <a:t>LSS  / 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595F9-C7D0-431A-9D38-B114E9C5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0BEC5"/>
                </a:solidFill>
              </a:defRPr>
            </a:pPr>
            <a:r>
              <a:rPr sz="825" b="0">
                <a:solidFill>
                  <a:srgbClr val="B0BEC5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48666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39751-1201-4999-8B5A-F32D9A1C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DC98C-1E25-4F8A-8739-7B84A7E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LSS starts with a modular architecture.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D1630-7F69-4E3E-A5A4-8B6DBDCA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Each layer has a distinct job - and each customer scope is verified before it is marketed.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DA217-31EA-45A5-AE8A-9A327ED9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9448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8E0CF-A210-4E15-8177-1DBB807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05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Industry extensions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FC98C-31FD-4221-9786-EBC88F66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337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FFA"/>
                </a:solidFill>
              </a:defRPr>
            </a:pPr>
            <a:r>
              <a:rPr sz="1200" b="0">
                <a:solidFill>
                  <a:srgbClr val="E6FFFA"/>
                </a:solidFill>
              </a:rPr>
              <a:t>Pharmaceutical  /  Device  /  Plastics  /  Cosmetics  /  Laboratory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95C24-A9DC-4821-A826-121FE94D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0475"/>
            <a:ext cx="9448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3B58"/>
          </a:solidFill>
          <a:ln xmlns:a="http://schemas.openxmlformats.org/drawingml/2006/main" w="9525">
            <a:solidFill>
              <a:srgbClr val="163B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A0855-DD69-4E99-9982-3551D222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Life Sciences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E4563-AF74-4A85-A563-B97E4AB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338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FFA"/>
                </a:solidFill>
              </a:defRPr>
            </a:pPr>
            <a:r>
              <a:rPr sz="1200" b="0">
                <a:solidFill>
                  <a:srgbClr val="E6FFFA"/>
                </a:solidFill>
              </a:rPr>
              <a:t>QMS  /  controlled workflows  / 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2E7F6-1D0D-41F6-9C20-5DF3BE0E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9448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86581"/>
          </a:solidFill>
          <a:ln xmlns:a="http://schemas.openxmlformats.org/drawingml/2006/main" w="9525">
            <a:solidFill>
              <a:srgbClr val="4865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CA373-C97B-4766-8F03-F77F5D97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05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Community extensions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6F9A2-2E06-47F5-BED2-4A09A17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339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FFA"/>
                </a:solidFill>
              </a:defRPr>
            </a:pPr>
            <a:r>
              <a:rPr sz="1200" b="0">
                <a:solidFill>
                  <a:srgbClr val="E6FFFA"/>
                </a:solidFill>
              </a:rPr>
              <a:t>OCA components and supporting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DDD84-E248-4409-B3F1-5E9CBE1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00675"/>
            <a:ext cx="9448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E1071-A14C-43BC-AC3E-00F8C4E1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05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ERP 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711E3-0C83-40D7-9C90-AF63674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340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6FFFA"/>
                </a:solidFill>
              </a:defRPr>
            </a:pPr>
            <a:r>
              <a:rPr sz="1200" b="0">
                <a:solidFill>
                  <a:srgbClr val="E6FFFA"/>
                </a:solidFill>
              </a:rPr>
              <a:t>Odoo 19 Community  /  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049F2-AE8F-4609-B9DD-93FA9146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341E5-89C9-46C9-AD45-5D29EF3A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583968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F6956-6E43-441C-8588-96DD4062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FB9B3-A704-42A2-9E89-CBD319B4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Show the workflow - not the menu.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EE526-6408-4B78-95EE-3AC0FC73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A credible demonstration answers a real operational question end to 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75683-7443-4BC1-8E37-3AB09B2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71950"/>
            <a:ext cx="923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1677-F819-491E-8D75-D80C44F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B0D38-BD84-4740-96FB-5A19E62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RECEIVE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AF4A0-46BC-44A2-8A1F-72A4FDA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48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Material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and 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4C7ED-8E23-440F-9A41-99406A83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33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05A13-2D77-4DDD-9290-A899A26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ASSESS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7BCB2-28D5-413A-BAD9-A7C8172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48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Status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and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86CFF-A877-41B5-B680-44F971A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BA820-A7C0-46E0-8BF6-91F8325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72A03-90F3-465F-9779-C6227E6F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048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Batch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0EE8D-3221-4794-9673-183E0658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33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41D71-D960-4CEE-B78D-461B8BD6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26C44-A896-474D-909E-E7F5D125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048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Quality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F767A-6AA5-4DE5-A8CC-BDEF9690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33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97E2D-8793-4BFB-83F5-FCF2D9A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667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EA5EF-6D47-43BB-AD43-45FA6135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048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Linked</a:t>
            </a:r>
          </a:p>
          <a:p xmlns:a="http://schemas.openxmlformats.org/drawingml/2006/main">
            <a:pPr algn="ctr"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45DA3-7919-42FB-A03B-95E090FA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Every stage creates context for the next decision.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C240E-E697-43F3-9956-CBC70F7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07BC0-4314-4664-AEE9-6BBE5CB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36886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FF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F33FA-CCD8-4A62-A27E-8090A846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325B-D96D-481D-8F70-0C6C42B8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The value is better-connected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A88D5-624A-4917-AC2C-FA64490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Not “compliance in a box.” A more coherent place to execute, assess, and explain the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811A1-7B34-4836-B39C-2567F6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C86"/>
                </a:solidFill>
              </a:defRPr>
            </a:pPr>
            <a:r>
              <a:rPr sz="3150" b="1">
                <a:solidFill>
                  <a:srgbClr val="0E7C86"/>
                </a:solidFill>
              </a:rPr>
              <a:t>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50ECB-79A7-4B67-B920-324523A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4D818-3DFF-4888-95C9-2986A004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manual reconstruction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07A6E-ACFB-4732-BF59-A291945F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C86"/>
                </a:solidFill>
              </a:defRPr>
            </a:pPr>
            <a:r>
              <a:rPr sz="3150" b="1">
                <a:solidFill>
                  <a:srgbClr val="0E7C86"/>
                </a:solidFill>
              </a:rPr>
              <a:t>MORE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837EB-3B2F-406D-8360-20549F4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1EDE7-897C-4EB3-83A9-C382E17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visible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516B6-3E37-4699-AE6F-FF29CFFA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290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C86"/>
                </a:solidFill>
              </a:defRPr>
            </a:pPr>
            <a:r>
              <a:rPr sz="3150" b="1">
                <a:solidFill>
                  <a:srgbClr val="0E7C86"/>
                </a:solidFill>
              </a:rPr>
              <a:t>CLEARER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3275B-CEA7-4DC8-9795-B69E7459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71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47082-DC23-4AB5-8DCB-0FBD031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9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43"/>
                </a:solidFill>
              </a:defRPr>
            </a:pPr>
            <a:r>
              <a:rPr sz="1800" b="0">
                <a:solidFill>
                  <a:srgbClr val="102A43"/>
                </a:solidFill>
              </a:rPr>
              <a:t>operational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55876-A2D3-4747-83B5-60ECE38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Intended outcomes are confirmed against your workflow, configuration, and validation programme.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BF20E-B4E1-4511-897C-DD6F704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0CFE2-6E2D-4E46-8FB9-FA6C019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538429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FFC77-FA25-40FB-86DC-CDAB93DE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EE3E8"/>
                </a:solidFill>
              </a:defRPr>
            </a:pPr>
            <a:r>
              <a:rPr sz="1050" b="1">
                <a:solidFill>
                  <a:srgbClr val="BEE3E8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3EC04-AF0B-4ED9-B37B-FB06302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One strong idea. Many useful formats.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F3A14-B38A-4B8C-AEBC-38764F0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</a:defRPr>
            </a:pPr>
            <a:r>
              <a:rPr sz="1650" b="0">
                <a:solidFill>
                  <a:srgbClr val="D9E2EC"/>
                </a:solidFill>
              </a:rPr>
              <a:t>“See the complete journey of a batch” turns into ads, social content, PLV, and a workflow demo.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9de654a8a4bc2"/>
          <a:srcRect xmlns:a="http://schemas.openxmlformats.org/drawingml/2006/main" l="0" t="318" r="0" b="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57500"/>
            <a:ext cx="47625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88e9156d746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2857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04803af1a41c3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2857500"/>
            <a:ext cx="2914650" cy="15240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49370-4859-49C1-BA26-6F9450C0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E3E8"/>
                </a:solidFill>
              </a:defRPr>
            </a:pPr>
            <a:r>
              <a:rPr sz="1125" b="1">
                <a:solidFill>
                  <a:srgbClr val="BEE3E8"/>
                </a:solidFill>
              </a:rPr>
              <a:t>ADVERTISING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06F3F-EAB6-44B3-9D76-10D22B56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05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E3E8"/>
                </a:solidFill>
              </a:defRPr>
            </a:pPr>
            <a:r>
              <a:rPr sz="1125" b="1">
                <a:solidFill>
                  <a:srgbClr val="BEE3E8"/>
                </a:solidFill>
              </a:rPr>
              <a:t>SOCIAL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690EE-3F8B-4019-AD47-B2F98354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EE3E8"/>
                </a:solidFill>
              </a:defRPr>
            </a:pPr>
            <a:r>
              <a:rPr sz="1125" b="1">
                <a:solidFill>
                  <a:srgbClr val="BEE3E8"/>
                </a:solidFill>
              </a:rPr>
              <a:t>RETARGETING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7C0BD-FA50-42DC-9FCF-AA5A5A11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0BEC5"/>
                </a:solidFill>
              </a:defRPr>
            </a:pPr>
            <a:r>
              <a:rPr sz="900" b="1">
                <a:solidFill>
                  <a:srgbClr val="B0BEC5"/>
                </a:solidFill>
              </a:rPr>
              <a:t>LSS  /  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D0829-6723-40D3-85E7-4E29135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0BEC5"/>
                </a:solidFill>
              </a:defRPr>
            </a:pPr>
            <a:r>
              <a:rPr sz="825" b="0">
                <a:solidFill>
                  <a:srgbClr val="B0BEC5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018152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CBD4B-BEAB-4F10-AB03-D962F88B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F36A-73F1-4791-B672-1C5F1CBE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Different buyers enter through different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AB23D-5D2C-45AA-8FF7-A606993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Lead with the handoff they own, then connect their need to the wider operating 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3643-E350-43B2-A82A-22850D0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0F690-77E0-44A7-8E83-58A0113A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CEO / COO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CA5D7-C463-49BD-9C6D-4E691912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Visibility and decision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9AA27-2ADB-435D-9AD2-C6F6A7E0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271DC-48C9-45CC-A228-B63CF447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00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4268E-7A20-49B9-9A5F-5E88F64E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Deviations, CAPA, documents,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EEB79-C494-4227-AF30-7E2BA64A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862B-B02A-4AC0-B7BA-4E7697D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43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FB3FF-C02E-403E-9117-A47A7632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Material status, batch execution, handoffs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53551-71DD-47C1-8518-CCCB24E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E46F4-C621-4411-B785-6782E8D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86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IT / 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EBA5-B650-4A01-8035-A396267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Architecture, integration, 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2DE3B-CCB0-47F8-951E-BA64454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762CA-AFF3-4A5C-A1BF-368F21B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611563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6D971-9A1A-4191-967B-85CD2FE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11406-18B9-49BE-BED7-6D7DABEF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Industry relevance makes the story credible.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31C5C-689E-45E3-B2CB-E3E8226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The platform conversation changes with the product, process, and regulatory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6DD3F-27D3-450D-B7CA-E520353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BA8A8-BD63-4EA7-988C-7409E62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PHARMACEUTICAL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28A73-F396-49F0-9355-F6535453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Material to batch to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720F0-3EA8-4488-98C4-1B95442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0EC4F-C827-4B82-9873-4F827F1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MEDICAL DEVICES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BAFBF-CB5B-43C4-A7EF-9980B74D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Device record and controlled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E8B5F-0307-4CD4-92BE-20A54C29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98884-3CA7-4586-888A-35FEB9E0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MEDICAL PLASTICS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17EAA-5AB8-4CAA-A9ED-4B7A8A13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5287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Process parameters and lot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66DA5-86F0-4433-B925-C9F009F2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889FD-71B6-47F2-81B7-2917B28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COSMETICS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8CD8F-5ED6-446F-A850-CAB43E6B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Formula, ingredient, packaging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F7561-BDB7-4E41-8010-5C2F134F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5285F-98E9-4CBF-AA93-0AF2B1D6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LABORATORIES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CA316-C86A-4716-B922-84F11C6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9112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86581"/>
                </a:solidFill>
              </a:defRPr>
            </a:pPr>
            <a:r>
              <a:rPr sz="1500" b="0">
                <a:solidFill>
                  <a:srgbClr val="486581"/>
                </a:solidFill>
              </a:rPr>
              <a:t>Sample, result, and release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86265-9367-480A-89CC-CCEAD0B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AC0C5-8D51-461F-81DF-6050AD1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009378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4CA71-8DAE-43FA-A2EA-17B99F54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37AA9-3D39-480D-819F-74832CE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Trust starts with precise claims.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F4474-B44F-42DE-95DD-1A3B7E26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The strongest launch language is specific about what LSS is designed to support - and candid about what must be verified.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42DDB-1C79-400D-A770-A31E8FA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286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6E0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5EBD9-4DF9-45FD-93AC-DCE4E14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86"/>
                </a:solidFill>
              </a:defRPr>
            </a:pPr>
            <a:r>
              <a:rPr sz="1650" b="1">
                <a:solidFill>
                  <a:srgbClr val="0E7C86"/>
                </a:solidFill>
              </a:rPr>
              <a:t>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07E9C-C71C-4E37-B985-65FCDBFD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90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Designed to support</a:t>
            </a:r>
          </a:p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Configured and validated</a:t>
            </a:r>
          </a:p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according to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96280-FBDF-4A2A-9925-3DD78706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4286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59344-E01E-426E-ACE0-920DB98B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29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E05E"/>
                </a:solidFill>
              </a:defRPr>
            </a:pPr>
            <a:r>
              <a:rPr sz="1650" b="1">
                <a:solidFill>
                  <a:srgbClr val="F6E05E"/>
                </a:solidFill>
              </a:rPr>
              <a:t>Never say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6945F-8056-41E6-821F-D292EDF3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90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Guaranteed compliance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FDA approved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100% compliant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D4007-6C2F-4A83-85AB-98241911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82F4A-1BD2-4A8C-814B-38970F87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268910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DDA86-C01D-499F-9D20-2119F24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7C86"/>
                </a:solidFill>
              </a:defRPr>
            </a:pPr>
            <a:r>
              <a:rPr sz="1050" b="1">
                <a:solidFill>
                  <a:srgbClr val="0E7C86"/>
                </a:solidFill>
              </a:rPr>
              <a:t>LSS - LIFE SCIENCES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7BCFC-3E04-4FC1-B900-59A4C3F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A43"/>
                </a:solidFill>
              </a:defRPr>
            </a:pPr>
            <a:r>
              <a:rPr sz="3600" b="1">
                <a:solidFill>
                  <a:srgbClr val="102A43"/>
                </a:solidFill>
              </a:rPr>
              <a:t>Launch the message only when the proof is ready.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6AD52-A94D-43B2-953E-A0C6CA5D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</a:defRPr>
            </a:pPr>
            <a:r>
              <a:rPr sz="1650" b="0">
                <a:solidFill>
                  <a:srgbClr val="486581"/>
                </a:solidFill>
              </a:rPr>
              <a:t>The capability matrix turns an architectural story into a responsible commercial programme.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EAA86-B3CC-4518-BA6F-E9CE593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3A7C9-0CFD-446F-8963-D56FE745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51FA7-63CA-4DB4-97B3-8468D9A7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PRODUCT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CBCD-49EC-40F7-8B22-B232B68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90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9D074-15FD-453D-B66E-6886C3C4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52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A5B42-7EB7-4832-94BE-E5428236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718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DEMO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67D1F-C475-409C-83B4-3796058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90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16A3E-2B9B-4699-AC95-D4F23EE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52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7E487-1A8F-44DA-B281-2457DC3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REGULATORY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29509-7F0E-487B-8BD0-4776B0F7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90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E2346-E0FC-4683-8625-A7EF634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52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A221B-4E46-4DEF-9C1B-010EF06F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718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BRAND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58BDA-1578-420A-A48F-48DC260E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90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7BD82-7A52-45CB-9A40-FF810233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9BBF3-7FE3-433B-BD9E-5FE3F6EE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371850"/>
            <a:ext cx="838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SALES</a:t>
            </a:r>
          </a:p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TRUTH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6F4E5-59A8-4038-A447-B55AF3C7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Verification gives marketing a better story - because the story can be demonstrated.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8A4B4-3E8A-4BF2-A096-4ACFEC9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86581"/>
                </a:solidFill>
              </a:defRPr>
            </a:pPr>
            <a:r>
              <a:rPr sz="900" b="1">
                <a:solidFill>
                  <a:srgbClr val="486581"/>
                </a:solidFill>
              </a:rPr>
              <a:t>LSS  /  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E7D5E-E1E0-4D37-92A4-6C35363C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477000"/>
            <a:ext cx="786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86581"/>
                </a:solidFill>
              </a:defRPr>
            </a:pPr>
            <a:r>
              <a:rPr sz="825" b="0">
                <a:solidFill>
                  <a:srgbClr val="486581"/>
                </a:solidFill>
              </a:rPr>
              <a:t>Designed to support regulated workflows - configuration and validation remain the organisation's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852551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FEFAC-9E3F-4A2D-8F5F-C40079A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A10A-AA6F-4554-A092-1E81484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Bring one difficult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46380-C637-4D11-9B31-C3495306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2EC"/>
                </a:solidFill>
              </a:defRPr>
            </a:pPr>
            <a:r>
              <a:rPr sz="2025" b="0">
                <a:solidFill>
                  <a:srgbClr val="D9E2EC"/>
                </a:solidFill>
              </a:rPr>
              <a:t>We will map the records, roles, decisions, and evidence it needs.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C20E-5719-41D0-9092-56CBC826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095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37FCA-7182-44C2-B717-B6D58A6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REQUEST A WORKFLOW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10626-6455-41DB-AB5A-92968151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E3E8"/>
                </a:solidFill>
              </a:defRPr>
            </a:pPr>
            <a:r>
              <a:rPr sz="1425" b="0">
                <a:solidFill>
                  <a:srgbClr val="BEE3E8"/>
                </a:solidFill>
              </a:rPr>
              <a:t>[website]  /  [email]  /  [phone]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BF3E9-DE34-42F2-A3E2-5A35B6DB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0BEC5"/>
                </a:solidFill>
              </a:defRPr>
            </a:pPr>
            <a:r>
              <a:rPr sz="1125" b="1">
                <a:solidFill>
                  <a:srgbClr val="B0BEC5"/>
                </a:solidFill>
              </a:rPr>
              <a:t>LSS - Life Sciences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CA179-C216-44FB-9ACB-D94D4CE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B82E2-43A3-4E3F-858C-CA581C61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AB4B3-6FE3-4DA5-9C54-7B17E99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22226-7029-42FE-BDF8-18F2F45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529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22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2026-08-11T04:22:03.1070000Z</dcterms:created>
  <dcterms:modified xsi:type="dcterms:W3CDTF">2026-08-11T04:22:03.1070000Z</dcterms:modified>
</coreProperties>
</file>